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02F43"/>
                </a:solidFill>
              </a:defRPr>
            </a:pPr>
            <a:r>
              <a:t>Anime Discovery, Recommendation, and Graph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58368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5A5A"/>
                </a:solidFill>
              </a:defRPr>
            </a:pPr>
            <a:r>
              <a:t>Week 10 deliverable: recommendation, ranking,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4864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02F43"/>
                </a:solidFill>
              </a:defRPr>
            </a:pPr>
            <a:r>
              <a:t>Goal: rank anime that a user is likely to enjoy next.</a:t>
            </a:r>
          </a:p>
          <a:p>
            <a:pPr>
              <a:spcAft>
                <a:spcPts val="600"/>
              </a:spcAft>
              <a:defRPr sz="1800">
                <a:solidFill>
                  <a:srgbClr val="202F43"/>
                </a:solidFill>
              </a:defRPr>
            </a:pPr>
            <a:r>
              <a:t>Built on a reproducible catalog, interaction layer, graph relations, and feature matrices.</a:t>
            </a:r>
          </a:p>
          <a:p>
            <a:pPr>
              <a:spcAft>
                <a:spcPts val="600"/>
              </a:spcAft>
              <a:defRPr sz="1800">
                <a:solidFill>
                  <a:srgbClr val="202F43"/>
                </a:solidFill>
              </a:defRPr>
            </a:pPr>
            <a:r>
              <a:t>Week 10 adds offline recommendation evaluation and a product-level recommender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143000"/>
            <a:ext cx="4480560" cy="960120"/>
          </a:xfrm>
          <a:prstGeom prst="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300">
                <a:solidFill>
                  <a:srgbClr val="202F43"/>
                </a:solidFill>
              </a:defRPr>
            </a:pPr>
            <a:r>
              <a:t>Main decision</a:t>
            </a:r>
          </a:p>
          <a:p>
            <a:pPr>
              <a:defRPr sz="1050">
                <a:solidFill>
                  <a:srgbClr val="5A5A5A"/>
                </a:solidFill>
              </a:defRPr>
            </a:pPr>
            <a:r>
              <a:t>Given liked/completed anime, choose the next titles to recommend.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2331720"/>
            <a:ext cx="4480560" cy="960120"/>
          </a:xfrm>
          <a:prstGeom prst="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300">
                <a:solidFill>
                  <a:srgbClr val="202F43"/>
                </a:solidFill>
              </a:defRPr>
            </a:pPr>
            <a:r>
              <a:t>Not claimed</a:t>
            </a:r>
          </a:p>
          <a:p>
            <a:pPr>
              <a:defRPr sz="1050">
                <a:solidFill>
                  <a:srgbClr val="5A5A5A"/>
                </a:solidFill>
              </a:defRPr>
            </a:pPr>
            <a:r>
              <a:t>This is not chronological next-watch prediction because the ratings source has no timestamps.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3520440"/>
            <a:ext cx="4480560" cy="960120"/>
          </a:xfrm>
          <a:prstGeom prst="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300">
                <a:solidFill>
                  <a:srgbClr val="202F43"/>
                </a:solidFill>
              </a:defRPr>
            </a:pPr>
            <a:r>
              <a:t>Core result</a:t>
            </a:r>
          </a:p>
          <a:p>
            <a:pPr>
              <a:defRPr sz="1050">
                <a:solidFill>
                  <a:srgbClr val="5A5A5A"/>
                </a:solidFill>
              </a:defRPr>
            </a:pPr>
            <a:r>
              <a:t>Personalized SVD and hybrid ranking both beat popularity-only discovery.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02F43"/>
                </a:solidFill>
              </a:defRPr>
            </a:pPr>
            <a:r>
              <a:t>From Dataset to Recommender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58368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5A5A"/>
                </a:solidFill>
              </a:defRPr>
            </a:pPr>
            <a:r>
              <a:t>The Week 10 model uses all previous project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2743200" cy="1188720"/>
          </a:xfrm>
          <a:prstGeom prst="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300">
                <a:solidFill>
                  <a:srgbClr val="202F43"/>
                </a:solidFill>
              </a:defRPr>
            </a:pPr>
            <a:r>
              <a:t>Catalog layer</a:t>
            </a:r>
          </a:p>
          <a:p>
            <a:pPr>
              <a:defRPr sz="1050">
                <a:solidFill>
                  <a:srgbClr val="5A5A5A"/>
                </a:solidFill>
              </a:defRPr>
            </a:pPr>
            <a:r>
              <a:t>MAL/Jikan metadata enriched with AniDB and Shoko XML cache.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520440" y="1097280"/>
            <a:ext cx="2743200" cy="1188720"/>
          </a:xfrm>
          <a:prstGeom prst="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300">
                <a:solidFill>
                  <a:srgbClr val="202F43"/>
                </a:solidFill>
              </a:defRPr>
            </a:pPr>
            <a:r>
              <a:t>Feature layer</a:t>
            </a:r>
          </a:p>
          <a:p>
            <a:pPr>
              <a:defRPr sz="1050">
                <a:solidFill>
                  <a:srgbClr val="5A5A5A"/>
                </a:solidFill>
              </a:defRPr>
            </a:pPr>
            <a:r>
              <a:t>Numeric, categorical, text, tag, runtime, and graph-derived fields.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7960" y="1097280"/>
            <a:ext cx="2743200" cy="1188720"/>
          </a:xfrm>
          <a:prstGeom prst="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300">
                <a:solidFill>
                  <a:srgbClr val="202F43"/>
                </a:solidFill>
              </a:defRPr>
            </a:pPr>
            <a:r>
              <a:t>Interaction layer</a:t>
            </a:r>
          </a:p>
          <a:p>
            <a:pPr>
              <a:defRPr sz="1050">
                <a:solidFill>
                  <a:srgbClr val="5A5A5A"/>
                </a:solidFill>
              </a:defRPr>
            </a:pPr>
            <a:r>
              <a:t>Anonymized user-anime ratings filtered into positive interactions.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555480" y="1097280"/>
            <a:ext cx="2148840" cy="1188720"/>
          </a:xfrm>
          <a:prstGeom prst="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300">
                <a:solidFill>
                  <a:srgbClr val="202F43"/>
                </a:solidFill>
              </a:defRPr>
            </a:pPr>
            <a:r>
              <a:t>Graph layer</a:t>
            </a:r>
          </a:p>
          <a:p>
            <a:pPr>
              <a:defRPr sz="1050">
                <a:solidFill>
                  <a:srgbClr val="5A5A5A"/>
                </a:solidFill>
              </a:defRPr>
            </a:pPr>
            <a:r>
              <a:t>Recommendation edges plus typed relation edges for franchise navigation.</a:t>
            </a:r>
          </a:p>
        </p:txBody>
      </p:sp>
      <p:pic>
        <p:nvPicPr>
          <p:cNvPr id="8" name="Picture 7" descr="bakemonogatari_relat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10241280" cy="62612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02F43"/>
                </a:solidFill>
              </a:defRPr>
            </a:pPr>
            <a:r>
              <a:t>Representation and Segmentation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58368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5A5A"/>
                </a:solidFill>
              </a:defRPr>
            </a:pPr>
            <a:r>
              <a:t>Week 5 and Week 7 are inputs, not isolated exercises</a:t>
            </a:r>
          </a:p>
        </p:txBody>
      </p:sp>
      <p:pic>
        <p:nvPicPr>
          <p:cNvPr id="4" name="Picture 3" descr="svd_sparse_catalog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303520" cy="1790999"/>
          </a:xfrm>
          <a:prstGeom prst="rect">
            <a:avLst/>
          </a:prstGeom>
        </p:spPr>
      </p:pic>
      <p:pic>
        <p:nvPicPr>
          <p:cNvPr id="5" name="Picture 4" descr="cluster_genre_profil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51560"/>
            <a:ext cx="5349240" cy="36277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7150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02F43"/>
                </a:solidFill>
              </a:defRPr>
            </a:pPr>
            <a:r>
              <a:t>SVD gives a compact catalog representation for similarity and clustering.</a:t>
            </a:r>
          </a:p>
          <a:p>
            <a:pPr>
              <a:spcAft>
                <a:spcPts val="600"/>
              </a:spcAft>
              <a:defRPr sz="1200">
                <a:solidFill>
                  <a:srgbClr val="202F43"/>
                </a:solidFill>
              </a:defRPr>
            </a:pPr>
            <a:r>
              <a:t>Clusters are broad discovery segments, not hard genre truth.</a:t>
            </a:r>
          </a:p>
          <a:p>
            <a:pPr>
              <a:spcAft>
                <a:spcPts val="600"/>
              </a:spcAft>
              <a:defRPr sz="1200">
                <a:solidFill>
                  <a:srgbClr val="202F43"/>
                </a:solidFill>
              </a:defRPr>
            </a:pPr>
            <a:r>
              <a:t>Density methods showed local pockets but rejected too many titles as noise.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02F43"/>
                </a:solidFill>
              </a:defRPr>
            </a:pPr>
            <a:r>
              <a:t>User Levels and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58368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5A5A"/>
                </a:solidFill>
              </a:defRPr>
            </a:pPr>
            <a:r>
              <a:t>The final recommender should adapt to user maturity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2697480" cy="1143000"/>
          </a:xfrm>
          <a:prstGeom prst="rect">
            <a:avLst/>
          </a:prstGeom>
          <a:solidFill>
            <a:srgbClr val="ECF4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300">
                <a:solidFill>
                  <a:srgbClr val="202F43"/>
                </a:solidFill>
              </a:defRPr>
            </a:pPr>
            <a:r>
              <a:t>Absolute Beginner</a:t>
            </a:r>
          </a:p>
          <a:p>
            <a:pPr>
              <a:defRPr sz="1050">
                <a:solidFill>
                  <a:srgbClr val="5A5A5A"/>
                </a:solidFill>
              </a:defRPr>
            </a:pPr>
            <a:r>
              <a:t>Onboarding, genre choice, recognizable short entry points.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1051560"/>
            <a:ext cx="2697480" cy="1143000"/>
          </a:xfrm>
          <a:prstGeom prst="rect">
            <a:avLst/>
          </a:prstGeom>
          <a:solidFill>
            <a:srgbClr val="EEF8E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300">
                <a:solidFill>
                  <a:srgbClr val="202F43"/>
                </a:solidFill>
              </a:defRPr>
            </a:pPr>
            <a:r>
              <a:t>Amateur</a:t>
            </a:r>
          </a:p>
          <a:p>
            <a:pPr>
              <a:defRPr sz="1050">
                <a:solidFill>
                  <a:srgbClr val="5A5A5A"/>
                </a:solidFill>
              </a:defRPr>
            </a:pPr>
            <a:r>
              <a:t>Similar anime, franchise relations, high-rated anchors.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051560"/>
            <a:ext cx="2697480" cy="1143000"/>
          </a:xfrm>
          <a:prstGeom prst="rect">
            <a:avLst/>
          </a:prstGeom>
          <a:solidFill>
            <a:srgbClr val="FFF6E8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300">
                <a:solidFill>
                  <a:srgbClr val="202F43"/>
                </a:solidFill>
              </a:defRPr>
            </a:pPr>
            <a:r>
              <a:t>Good</a:t>
            </a:r>
          </a:p>
          <a:p>
            <a:pPr>
              <a:defRPr sz="1050">
                <a:solidFill>
                  <a:srgbClr val="5A5A5A"/>
                </a:solidFill>
              </a:defRPr>
            </a:pPr>
            <a:r>
              <a:t>Collaborative ranking plus seasonal/current exploration.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9281160" y="1051560"/>
            <a:ext cx="2423160" cy="1143000"/>
          </a:xfrm>
          <a:prstGeom prst="rect">
            <a:avLst/>
          </a:prstGeom>
          <a:solidFill>
            <a:srgbClr val="F8EFF8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300">
                <a:solidFill>
                  <a:srgbClr val="202F43"/>
                </a:solidFill>
              </a:defRPr>
            </a:pPr>
            <a:r>
              <a:t>Pro</a:t>
            </a:r>
          </a:p>
          <a:p>
            <a:pPr>
              <a:defRPr sz="1050">
                <a:solidFill>
                  <a:srgbClr val="5A5A5A"/>
                </a:solidFill>
              </a:defRPr>
            </a:pPr>
            <a:r>
              <a:t>Long-tail, novelty, niche clusters, graph-aware exploration.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02F43"/>
                </a:solidFill>
              </a:defRPr>
            </a:pPr>
            <a:r>
              <a:t>User controls: genre, demographic/content rating, explicit toggle, score floor, episode length, year.</a:t>
            </a:r>
          </a:p>
          <a:p>
            <a:pPr>
              <a:spcAft>
                <a:spcPts val="600"/>
              </a:spcAft>
              <a:defRPr sz="1700">
                <a:solidFill>
                  <a:srgbClr val="202F43"/>
                </a:solidFill>
              </a:defRPr>
            </a:pPr>
            <a:r>
              <a:t>Controls constrain the candidate set; ranking still decides the order.</a:t>
            </a:r>
          </a:p>
          <a:p>
            <a:pPr>
              <a:spcAft>
                <a:spcPts val="600"/>
              </a:spcAft>
              <a:defRPr sz="1700">
                <a:solidFill>
                  <a:srgbClr val="202F43"/>
                </a:solidFill>
              </a:defRPr>
            </a:pPr>
            <a:r>
              <a:t>Relations should offer franchise continuation after a main entry is selected, not blindly recommend season 3 first.</a:t>
            </a:r>
          </a:p>
        </p:txBody>
      </p:sp>
      <p:pic>
        <p:nvPicPr>
          <p:cNvPr id="9" name="Picture 8" descr="week10_user_leve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572000"/>
            <a:ext cx="7498079" cy="42176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02F43"/>
                </a:solidFill>
              </a:defRPr>
            </a:pPr>
            <a:r>
              <a:t>Evaluation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58368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5A5A"/>
                </a:solidFill>
              </a:defRPr>
            </a:pPr>
            <a:r>
              <a:t>Ranking recovery test with a serious popularity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251460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300">
                <a:solidFill>
                  <a:srgbClr val="202F43"/>
                </a:solidFill>
              </a:defRPr>
            </a:pPr>
            <a:r>
              <a:t>Positive</a:t>
            </a:r>
          </a:p>
          <a:p>
            <a:pPr>
              <a:defRPr sz="1050">
                <a:solidFill>
                  <a:srgbClr val="5A5A5A"/>
                </a:solidFill>
              </a:defRPr>
            </a:pPr>
            <a:r>
              <a:t>rating &gt;= 7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51460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300">
                <a:solidFill>
                  <a:srgbClr val="202F43"/>
                </a:solidFill>
              </a:defRPr>
            </a:pPr>
            <a:r>
              <a:t>Candidate pool</a:t>
            </a:r>
          </a:p>
          <a:p>
            <a:pPr>
              <a:defRPr sz="1050">
                <a:solidFill>
                  <a:srgbClr val="5A5A5A"/>
                </a:solidFill>
              </a:defRPr>
            </a:pPr>
            <a:r>
              <a:t>8,181 anime with enough positive ratings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051560"/>
            <a:ext cx="251460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300">
                <a:solidFill>
                  <a:srgbClr val="202F43"/>
                </a:solidFill>
              </a:defRPr>
            </a:pPr>
            <a:r>
              <a:t>Evaluation users</a:t>
            </a:r>
          </a:p>
          <a:p>
            <a:pPr>
              <a:defRPr sz="1050">
                <a:solidFill>
                  <a:srgbClr val="5A5A5A"/>
                </a:solidFill>
              </a:defRPr>
            </a:pPr>
            <a:r>
              <a:t>15,000 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9235440" y="1051560"/>
            <a:ext cx="2514600" cy="1097280"/>
          </a:xfrm>
          <a:prstGeom prst="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300">
                <a:solidFill>
                  <a:srgbClr val="202F43"/>
                </a:solidFill>
              </a:defRPr>
            </a:pPr>
            <a:r>
              <a:t>Candidate list</a:t>
            </a:r>
          </a:p>
          <a:p>
            <a:pPr>
              <a:defRPr sz="1050">
                <a:solidFill>
                  <a:srgbClr val="5A5A5A"/>
                </a:solidFill>
              </a:defRPr>
            </a:pPr>
            <a:r>
              <a:t>1 held-out liked item + 100 sampled negatives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02F43"/>
                </a:solidFill>
              </a:defRPr>
            </a:pPr>
            <a:r>
              <a:t>Held-out user-item pairs are removed from the training matrix.</a:t>
            </a:r>
          </a:p>
          <a:p>
            <a:pPr>
              <a:spcAft>
                <a:spcPts val="600"/>
              </a:spcAft>
              <a:defRPr sz="1700">
                <a:solidFill>
                  <a:srgbClr val="202F43"/>
                </a:solidFill>
              </a:defRPr>
            </a:pPr>
            <a:r>
              <a:t>No timestamp claims: this evaluates preference recovery, not exact next-watch sequence.</a:t>
            </a:r>
          </a:p>
          <a:p>
            <a:pPr>
              <a:spcAft>
                <a:spcPts val="600"/>
              </a:spcAft>
              <a:defRPr sz="1700">
                <a:solidFill>
                  <a:srgbClr val="202F43"/>
                </a:solidFill>
              </a:defRPr>
            </a:pPr>
            <a:r>
              <a:t>Popularity is not a strawman in anime; it reflects real discourse and entry-point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02F43"/>
                </a:solidFill>
              </a:defRPr>
            </a:pPr>
            <a:r>
              <a:t>Overall Recommendation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58368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5A5A"/>
                </a:solidFill>
              </a:defRPr>
            </a:pPr>
            <a:r>
              <a:t>Personalized models beat popularity-only discovery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005840"/>
          <a:ext cx="54406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136"/>
                <a:gridCol w="1088136"/>
                <a:gridCol w="1088136"/>
                <a:gridCol w="1088136"/>
                <a:gridCol w="1088136"/>
              </a:tblGrid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4C78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hit_rate_at_10</a:t>
                      </a:r>
                    </a:p>
                  </a:txBody>
                  <a:tcPr>
                    <a:solidFill>
                      <a:srgbClr val="4C78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ndcg_at_10</a:t>
                      </a:r>
                    </a:p>
                  </a:txBody>
                  <a:tcPr>
                    <a:solidFill>
                      <a:srgbClr val="4C78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mean_reciprocal_rank</a:t>
                      </a:r>
                    </a:p>
                  </a:txBody>
                  <a:tcPr>
                    <a:solidFill>
                      <a:srgbClr val="4C78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median_rank</a:t>
                      </a:r>
                    </a:p>
                  </a:txBody>
                  <a:tcPr>
                    <a:solidFill>
                      <a:srgbClr val="4C78A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latent_svd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0.910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0.716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0.658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hybrid_svd_popularity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0.910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0.716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0.658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popularity_baseline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0.770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0.501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0.430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4.0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week10_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914400"/>
            <a:ext cx="5303520" cy="1704703"/>
          </a:xfrm>
          <a:prstGeom prst="rect">
            <a:avLst/>
          </a:prstGeom>
        </p:spPr>
      </p:pic>
      <p:pic>
        <p:nvPicPr>
          <p:cNvPr id="6" name="Picture 5" descr="week10_median_r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3657600"/>
            <a:ext cx="6217920" cy="34975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02F43"/>
                </a:solidFill>
              </a:defRPr>
            </a:pPr>
            <a:r>
              <a:t>Results by User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58368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5A5A"/>
                </a:solidFill>
              </a:defRPr>
            </a:pPr>
            <a:r>
              <a:t>The same model has different meaning for different users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user_level</a:t>
                      </a:r>
                    </a:p>
                  </a:txBody>
                  <a:tcPr>
                    <a:solidFill>
                      <a:srgbClr val="4C78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evaluated_users</a:t>
                      </a:r>
                    </a:p>
                  </a:txBody>
                  <a:tcPr>
                    <a:solidFill>
                      <a:srgbClr val="4C78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median_profile_size</a:t>
                      </a:r>
                    </a:p>
                  </a:txBody>
                  <a:tcPr>
                    <a:solidFill>
                      <a:srgbClr val="4C78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hit_rate_at_10</a:t>
                      </a:r>
                    </a:p>
                  </a:txBody>
                  <a:tcPr>
                    <a:solidFill>
                      <a:srgbClr val="4C78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median_rank</a:t>
                      </a:r>
                    </a:p>
                  </a:txBody>
                  <a:tcPr>
                    <a:solidFill>
                      <a:srgbClr val="4C78A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Absolute Beginner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4499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25.0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0.913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Amateur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5575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90.0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0.920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4864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245.0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0.896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1153.5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0.806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02F43"/>
                          </a:solidFill>
                        </a:defRPr>
                      </a:pPr>
                      <a:r>
                        <a:t>3.0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week10_hit_at_10_by_user_le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868680"/>
            <a:ext cx="5074920" cy="28546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160520"/>
            <a:ext cx="10424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F43"/>
                </a:solidFill>
              </a:defRPr>
            </a:pPr>
            <a:r>
              <a:t>Amateur users perform best: enough signal, but not too much catalog saturation.</a:t>
            </a:r>
          </a:p>
          <a:p>
            <a:pPr>
              <a:spcAft>
                <a:spcPts val="600"/>
              </a:spcAft>
              <a:defRPr sz="1600">
                <a:solidFill>
                  <a:srgbClr val="202F43"/>
                </a:solidFill>
              </a:defRPr>
            </a:pPr>
            <a:r>
              <a:t>Good users are still strong but more diverse.</a:t>
            </a:r>
          </a:p>
          <a:p>
            <a:pPr>
              <a:spcAft>
                <a:spcPts val="600"/>
              </a:spcAft>
              <a:defRPr sz="1600">
                <a:solidFill>
                  <a:srgbClr val="202F43"/>
                </a:solidFill>
              </a:defRPr>
            </a:pPr>
            <a:r>
              <a:t>Pro users are rare and harder; this segment needs novelty and long-tail logic.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02F43"/>
                </a:solidFill>
              </a:defRPr>
            </a:pPr>
            <a:r>
              <a:t>Absolute Beginner Entry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58368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5A5A"/>
                </a:solidFill>
              </a:defRPr>
            </a:pPr>
            <a:r>
              <a:t>Cold-start pool before collaborative ranking is reliable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14400"/>
          <a:ext cx="6492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448"/>
                <a:gridCol w="1298448"/>
                <a:gridCol w="1298448"/>
                <a:gridCol w="1298448"/>
                <a:gridCol w="1298448"/>
              </a:tblGrid>
              <a:tr h="48768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title</a:t>
                      </a:r>
                    </a:p>
                  </a:txBody>
                  <a:tcPr>
                    <a:solidFill>
                      <a:srgbClr val="4C78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4C78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4C78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episodes</a:t>
                      </a:r>
                    </a:p>
                  </a:txBody>
                  <a:tcPr>
                    <a:solidFill>
                      <a:srgbClr val="4C78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genres</a:t>
                      </a:r>
                    </a:p>
                  </a:txBody>
                  <a:tcPr>
                    <a:solidFill>
                      <a:srgbClr val="4C78A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Sousou no Frieren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9.26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Adventure|Award Winning|Drama|Fantas</a:t>
                      </a:r>
                    </a:p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y|Action|Comedy|Romance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Steins;Gate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9.07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24.0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Drama|Sci-Fi|Suspense|Comedy|Romance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Koe no Katachi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Movie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8.93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Award Winning|Drama|Romance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Kimi no Na wa.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Movie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8.82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Award Winning|Drama|Sci-</a:t>
                      </a:r>
                    </a:p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Fi|Comedy|Romance|Slice of Life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Fullmetal Alchemist: Brotherhood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9.11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64.0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Action|Adventure|Drama|Fantasy|Sci-</a:t>
                      </a:r>
                    </a:p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Fi|Comedy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Shingeki no Kyojin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8.57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25.0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Action|Award</a:t>
                      </a:r>
                    </a:p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Winning|Drama|Suspense|Sci-</a:t>
                      </a:r>
                    </a:p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Fi|Fantasy|Adventure|Horror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Vinland Saga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8.78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24.0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Action|Adventure|Drama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Violet Evergarden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8.69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13.0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Drama|Action|Sci-Fi|Romance|Slice of</a:t>
                      </a:r>
                    </a:p>
                    <a:p>
                      <a:pPr>
                        <a:defRPr sz="700">
                          <a:solidFill>
                            <a:srgbClr val="202F43"/>
                          </a:solidFill>
                        </a:defRPr>
                      </a:pPr>
                      <a:r>
                        <a:t>Life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0" y="1051560"/>
            <a:ext cx="425196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02F43"/>
                </a:solidFill>
              </a:defRPr>
            </a:pPr>
            <a:r>
              <a:t>Filters out explicit titles and obvious continuation entries.</a:t>
            </a:r>
          </a:p>
          <a:p>
            <a:pPr>
              <a:spcAft>
                <a:spcPts val="600"/>
              </a:spcAft>
              <a:defRPr sz="1600">
                <a:solidFill>
                  <a:srgbClr val="202F43"/>
                </a:solidFill>
              </a:defRPr>
            </a:pPr>
            <a:r>
              <a:t>Prefers high score, high engagement, and shorter or medium-length commitments.</a:t>
            </a:r>
          </a:p>
          <a:p>
            <a:pPr>
              <a:spcAft>
                <a:spcPts val="600"/>
              </a:spcAft>
              <a:defRPr sz="1600">
                <a:solidFill>
                  <a:srgbClr val="202F43"/>
                </a:solidFill>
              </a:defRPr>
            </a:pPr>
            <a:r>
              <a:t>Used for onboarding after genre/content choices.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3794760"/>
            <a:ext cx="4251960" cy="1143000"/>
          </a:xfrm>
          <a:prstGeom prst="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300">
                <a:solidFill>
                  <a:srgbClr val="202F43"/>
                </a:solidFill>
              </a:defRPr>
            </a:pPr>
            <a:r>
              <a:t>Example behavior</a:t>
            </a:r>
          </a:p>
          <a:p>
            <a:pPr>
              <a:defRPr sz="1050">
                <a:solidFill>
                  <a:srgbClr val="5A5A5A"/>
                </a:solidFill>
              </a:defRPr>
            </a:pPr>
            <a:r>
              <a:t>If a beginner likes Frieren or Steins;Gate, the system can then switch into similar-anime and graph-aware recommendations.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02F43"/>
                </a:solidFill>
              </a:defRPr>
            </a:pPr>
            <a:r>
              <a:t>Recommendation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58368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5A5A"/>
                </a:solidFill>
              </a:defRPr>
            </a:pPr>
            <a:r>
              <a:t>Use the right signal at the right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54864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02F43"/>
                </a:solidFill>
              </a:defRPr>
            </a:pPr>
            <a:r>
              <a:t>1. Apply user controls: genre, rating, explicit toggle, score, year, length.</a:t>
            </a:r>
          </a:p>
          <a:p>
            <a:pPr>
              <a:spcAft>
                <a:spcPts val="600"/>
              </a:spcAft>
              <a:defRPr sz="1700">
                <a:solidFill>
                  <a:srgbClr val="202F43"/>
                </a:solidFill>
              </a:defRPr>
            </a:pPr>
            <a:r>
              <a:t>2. Select maturity mode: beginner, amateur, good, or pro.</a:t>
            </a:r>
          </a:p>
          <a:p>
            <a:pPr>
              <a:spcAft>
                <a:spcPts val="600"/>
              </a:spcAft>
              <a:defRPr sz="1700">
                <a:solidFill>
                  <a:srgbClr val="202F43"/>
                </a:solidFill>
              </a:defRPr>
            </a:pPr>
            <a:r>
              <a:t>3. Generate candidates: popularity, SVD, content similarity, relation graph.</a:t>
            </a:r>
          </a:p>
          <a:p>
            <a:pPr>
              <a:spcAft>
                <a:spcPts val="600"/>
              </a:spcAft>
              <a:defRPr sz="1700">
                <a:solidFill>
                  <a:srgbClr val="202F43"/>
                </a:solidFill>
              </a:defRPr>
            </a:pPr>
            <a:r>
              <a:t>4. Rank with hybrid score.</a:t>
            </a:r>
          </a:p>
          <a:p>
            <a:pPr>
              <a:spcAft>
                <a:spcPts val="600"/>
              </a:spcAft>
              <a:defRPr sz="1700">
                <a:solidFill>
                  <a:srgbClr val="202F43"/>
                </a:solidFill>
              </a:defRPr>
            </a:pPr>
            <a:r>
              <a:t>5. Use relations for franchise navigation after an entry point is chosen.</a:t>
            </a:r>
          </a:p>
        </p:txBody>
      </p:sp>
      <p:pic>
        <p:nvPicPr>
          <p:cNvPr id="5" name="Picture 4" descr="recommendation_network_top_pop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212080" cy="37715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97280" y="4754880"/>
            <a:ext cx="9784080" cy="822960"/>
          </a:xfrm>
          <a:prstGeom prst="rect">
            <a:avLst/>
          </a:prstGeom>
          <a:solidFill>
            <a:srgbClr val="FFF6E8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300">
                <a:solidFill>
                  <a:srgbClr val="202F43"/>
                </a:solidFill>
              </a:defRPr>
            </a:pPr>
            <a:r>
              <a:t>Design rule</a:t>
            </a:r>
          </a:p>
          <a:p>
            <a:pPr>
              <a:defRPr sz="1050">
                <a:solidFill>
                  <a:srgbClr val="5A5A5A"/>
                </a:solidFill>
              </a:defRPr>
            </a:pPr>
            <a:r>
              <a:t>General discovery should favor standalone or first-entry titles. Sequels and side stories belong in a contextual continuation rail.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02F43"/>
                </a:solidFill>
              </a:defRPr>
            </a:pPr>
            <a:r>
              <a:t>Limitations and Defense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658368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A5A5A"/>
                </a:solidFill>
              </a:defRPr>
            </a:pPr>
            <a:r>
              <a:t>What the current result supports, and what it does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984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02F43"/>
                </a:solidFill>
              </a:defRPr>
            </a:pPr>
            <a:r>
              <a:t>Supports: collaborative ranking improves over popularity-only recommendation.</a:t>
            </a:r>
          </a:p>
          <a:p>
            <a:pPr>
              <a:spcAft>
                <a:spcPts val="600"/>
              </a:spcAft>
              <a:defRPr sz="1800">
                <a:solidFill>
                  <a:srgbClr val="202F43"/>
                </a:solidFill>
              </a:defRPr>
            </a:pPr>
            <a:r>
              <a:t>Supports: user maturity matters; the Pro segment needs a different strategy.</a:t>
            </a:r>
          </a:p>
          <a:p>
            <a:pPr>
              <a:spcAft>
                <a:spcPts val="600"/>
              </a:spcAft>
              <a:defRPr sz="1800">
                <a:solidFill>
                  <a:srgbClr val="202F43"/>
                </a:solidFill>
              </a:defRPr>
            </a:pPr>
            <a:r>
              <a:t>Supports: relation edges are necessary for franchise-aware recommendation.</a:t>
            </a:r>
          </a:p>
          <a:p>
            <a:pPr>
              <a:spcAft>
                <a:spcPts val="600"/>
              </a:spcAft>
              <a:defRPr sz="1800">
                <a:solidFill>
                  <a:srgbClr val="202F43"/>
                </a:solidFill>
              </a:defRPr>
            </a:pPr>
            <a:r>
              <a:t>Does not prove: chronological next-watch prediction.</a:t>
            </a:r>
          </a:p>
          <a:p>
            <a:pPr>
              <a:spcAft>
                <a:spcPts val="600"/>
              </a:spcAft>
              <a:defRPr sz="1800">
                <a:solidFill>
                  <a:srgbClr val="202F43"/>
                </a:solidFill>
              </a:defRPr>
            </a:pPr>
            <a:r>
              <a:t>Does not solve yet: fresh seasonal recency, full watch-order data, or perfect MAL/AniDB split handling.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892040"/>
            <a:ext cx="10241280" cy="914400"/>
          </a:xfrm>
          <a:prstGeom prst="rect">
            <a:avLst/>
          </a:prstGeom>
          <a:solidFill>
            <a:srgbClr val="ECF4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/>
          <a:lstStyle/>
          <a:p>
            <a:pPr algn="ctr">
              <a:defRPr b="1" sz="1300">
                <a:solidFill>
                  <a:srgbClr val="202F43"/>
                </a:solidFill>
              </a:defRPr>
            </a:pPr>
            <a:r>
              <a:t>Next technical focus</a:t>
            </a:r>
          </a:p>
          <a:p>
            <a:pPr>
              <a:defRPr sz="1050">
                <a:solidFill>
                  <a:srgbClr val="5A5A5A"/>
                </a:solidFill>
              </a:defRPr>
            </a:pPr>
            <a:r>
              <a:t>Week 12 can move graph analytics from diagnostics into graph-aware reranking: centrality, relation paths, franchise entry points, and novelty constraints.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