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3333333" cy="7500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presProps" Target="presProps.xml"/>
<Relationship Id="rId9" Type="http://schemas.openxmlformats.org/officeDocument/2006/relationships/viewProps" Target="viewProps.xml"/>
<Relationship Id="rId10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3" Type="http://schemas.openxmlformats.org/officeDocument/2006/relationships/image" Target="../media/image_s3_4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3" Type="http://schemas.openxmlformats.org/officeDocument/2006/relationships/image" Target="../media/image_s4_4.png"/>
<Relationship Id="rId4" Type="http://schemas.openxmlformats.org/officeDocument/2006/relationships/image" Target="../media/image_s4_5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3" Type="http://schemas.openxmlformats.org/officeDocument/2006/relationships/image" Target="../media/image_s5_4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3" Type="http://schemas.openxmlformats.org/officeDocument/2006/relationships/image" Target="../media/image_s6_4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400" b="1">
                <a:solidFill>
                  <a:srgbClr val="0F172A"/>
                </a:solidFill>
              </a:rPr>
              <a:t>Week 7: Anime Clustering and Validation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640080" y="1417320"/>
            <a:ext cx="107899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200" b="0">
                <a:solidFill>
                  <a:srgbClr val="334155"/>
                </a:solidFill>
              </a:rPr>
              <a:t>Goal: segment the anime catalog and validate whether the segments are meaningful for recommendation.</a:t>
            </a:r>
            <a:endParaRPr lang="en-US" sz="2200"/>
          </a:p>
        </p:txBody>
      </p:sp>
      <p:sp>
        <p:nvSpPr>
          <p:cNvPr id="4" name="TextBox 4"/>
          <p:cNvSpPr txBox="1"/>
          <p:nvPr/>
        </p:nvSpPr>
        <p:spPr>
          <a:xfrm>
            <a:off x="822960" y="2423160"/>
            <a:ext cx="50292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100" b="0">
                <a:solidFill>
                  <a:srgbClr val="1F2937"/>
                </a:solidFill>
              </a:rPr>
              <a:t>Current dataset</a:t>
            </a:r>
            <a:endParaRPr lang="en-US" sz="2100"/>
          </a:p>
          <a:p>
            <a:r>
              <a:rPr lang="en-US" sz="2100" b="0">
                <a:solidFill>
                  <a:srgbClr val="1F2937"/>
                </a:solidFill>
              </a:rPr>
              <a:t>• 16,664 anime rows</a:t>
            </a:r>
            <a:endParaRPr lang="en-US" sz="2100"/>
          </a:p>
          <a:p>
            <a:r>
              <a:rPr lang="en-US" sz="2100" b="0">
                <a:solidFill>
                  <a:srgbClr val="1F2937"/>
                </a:solidFill>
              </a:rPr>
              <a:t>• 32 catalog columns</a:t>
            </a:r>
            <a:endParaRPr lang="en-US" sz="2100"/>
          </a:p>
          <a:p>
            <a:r>
              <a:rPr lang="en-US" sz="2100" b="0">
                <a:solidFill>
                  <a:srgbClr val="1F2937"/>
                </a:solidFill>
              </a:rPr>
              <a:t>• 114,523 recommendation edges</a:t>
            </a:r>
            <a:endParaRPr lang="en-US" sz="2100"/>
          </a:p>
          <a:p>
            <a:r>
              <a:rPr lang="en-US" sz="2100" b="0">
                <a:solidFill>
                  <a:srgbClr val="1F2937"/>
                </a:solidFill>
              </a:rPr>
              <a:t>• 14,392 relation edges</a:t>
            </a:r>
            <a:endParaRPr lang="en-US" sz="2100"/>
          </a:p>
        </p:txBody>
      </p:sp>
      <p:sp>
        <p:nvSpPr>
          <p:cNvPr id="5" name="TextBox 5"/>
          <p:cNvSpPr txBox="1"/>
          <p:nvPr/>
        </p:nvSpPr>
        <p:spPr>
          <a:xfrm>
            <a:off x="6126480" y="2423160"/>
            <a:ext cx="493776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100" b="0">
                <a:solidFill>
                  <a:srgbClr val="1F2937"/>
                </a:solidFill>
              </a:rPr>
              <a:t>Product question</a:t>
            </a:r>
            <a:endParaRPr lang="en-US" sz="2100"/>
          </a:p>
          <a:p>
            <a:r>
              <a:rPr lang="en-US" sz="2100" b="0">
                <a:solidFill>
                  <a:srgbClr val="1F2937"/>
                </a:solidFill>
              </a:rPr>
              <a:t>Which anime are similar, which latent segments exist, and which titles should be candidates for recommendation or graph-based ranking?</a:t>
            </a:r>
            <a:endParaRPr lang="en-US"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594360" y="365760"/>
            <a:ext cx="10789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000" b="1">
                <a:solidFill>
                  <a:srgbClr val="0F172A"/>
                </a:solidFill>
              </a:rPr>
              <a:t>Representation Used for Clustering</a:t>
            </a:r>
            <a:endParaRPr lang="en-US" sz="3000"/>
          </a:p>
        </p:txBody>
      </p:sp>
      <p:sp>
        <p:nvSpPr>
          <p:cNvPr id="3" name="TextBox 3"/>
          <p:cNvSpPr txBox="1"/>
          <p:nvPr/>
        </p:nvSpPr>
        <p:spPr>
          <a:xfrm>
            <a:off x="685800" y="10515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000" b="0">
                <a:solidFill>
                  <a:srgbClr val="1F2937"/>
                </a:solidFill>
              </a:rPr>
              <a:t>I clustered an SVD-compressed feature space because it combines numeric, categorical, tag, text, and graph-adjacent signals while reducing sparse TF-IDF noise.</a:t>
            </a:r>
            <a:endParaRPr lang="en-US" sz="2000"/>
          </a:p>
        </p:txBody>
      </p:sp>
      <p:sp>
        <p:nvSpPr>
          <p:cNvPr id="10" name="TextBox 10"/>
          <p:cNvSpPr txBox="1"/>
          <p:nvPr/>
        </p:nvSpPr>
        <p:spPr>
          <a:xfrm>
            <a:off x="685800" y="2057400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500" b="1">
                <a:solidFill>
                  <a:srgbClr val="111827"/>
                </a:solidFill>
              </a:rPr>
              <a:t>Week 5 dimensionality output</a:t>
            </a:r>
            <a:endParaRPr lang="en-US" sz="1500"/>
          </a:p>
        </p:txBody>
      </p:sp>
      <p:sp>
        <p:nvSpPr>
          <p:cNvPr id="11" name="Cell 11"/>
          <p:cNvSpPr/>
          <p:nvPr/>
        </p:nvSpPr>
        <p:spPr>
          <a:xfrm>
            <a:off x="685800" y="2404872"/>
            <a:ext cx="246888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Method</a:t>
            </a:r>
          </a:p>
        </p:txBody>
      </p:sp>
      <p:sp>
        <p:nvSpPr>
          <p:cNvPr id="12" name="Cell 12"/>
          <p:cNvSpPr/>
          <p:nvPr/>
        </p:nvSpPr>
        <p:spPr>
          <a:xfrm>
            <a:off x="3154680" y="2404872"/>
            <a:ext cx="91440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50%</a:t>
            </a:r>
          </a:p>
        </p:txBody>
      </p:sp>
      <p:sp>
        <p:nvSpPr>
          <p:cNvPr id="13" name="Cell 13"/>
          <p:cNvSpPr/>
          <p:nvPr/>
        </p:nvSpPr>
        <p:spPr>
          <a:xfrm>
            <a:off x="4069080" y="2404872"/>
            <a:ext cx="91440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80%</a:t>
            </a:r>
          </a:p>
        </p:txBody>
      </p:sp>
      <p:sp>
        <p:nvSpPr>
          <p:cNvPr id="14" name="Cell 14"/>
          <p:cNvSpPr/>
          <p:nvPr/>
        </p:nvSpPr>
        <p:spPr>
          <a:xfrm>
            <a:off x="4983480" y="2404872"/>
            <a:ext cx="91440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90%</a:t>
            </a:r>
          </a:p>
        </p:txBody>
      </p:sp>
      <p:sp>
        <p:nvSpPr>
          <p:cNvPr id="15" name="Cell 15"/>
          <p:cNvSpPr/>
          <p:nvPr/>
        </p:nvSpPr>
        <p:spPr>
          <a:xfrm>
            <a:off x="5897880" y="2404872"/>
            <a:ext cx="91440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95%</a:t>
            </a:r>
          </a:p>
        </p:txBody>
      </p:sp>
      <p:sp>
        <p:nvSpPr>
          <p:cNvPr id="16" name="Cell 16"/>
          <p:cNvSpPr/>
          <p:nvPr/>
        </p:nvSpPr>
        <p:spPr>
          <a:xfrm>
            <a:off x="685800" y="2715768"/>
            <a:ext cx="24688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PCA dense mixed</a:t>
            </a:r>
          </a:p>
        </p:txBody>
      </p:sp>
      <p:sp>
        <p:nvSpPr>
          <p:cNvPr id="17" name="Cell 17"/>
          <p:cNvSpPr/>
          <p:nvPr/>
        </p:nvSpPr>
        <p:spPr>
          <a:xfrm>
            <a:off x="3154680" y="2715768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4</a:t>
            </a:r>
          </a:p>
        </p:txBody>
      </p:sp>
      <p:sp>
        <p:nvSpPr>
          <p:cNvPr id="18" name="Cell 18"/>
          <p:cNvSpPr/>
          <p:nvPr/>
        </p:nvSpPr>
        <p:spPr>
          <a:xfrm>
            <a:off x="4069080" y="2715768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14</a:t>
            </a:r>
          </a:p>
        </p:txBody>
      </p:sp>
      <p:sp>
        <p:nvSpPr>
          <p:cNvPr id="19" name="Cell 19"/>
          <p:cNvSpPr/>
          <p:nvPr/>
        </p:nvSpPr>
        <p:spPr>
          <a:xfrm>
            <a:off x="4983480" y="2715768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25</a:t>
            </a:r>
          </a:p>
        </p:txBody>
      </p:sp>
      <p:sp>
        <p:nvSpPr>
          <p:cNvPr id="20" name="Cell 20"/>
          <p:cNvSpPr/>
          <p:nvPr/>
        </p:nvSpPr>
        <p:spPr>
          <a:xfrm>
            <a:off x="5897880" y="2715768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43</a:t>
            </a:r>
          </a:p>
        </p:txBody>
      </p:sp>
      <p:sp>
        <p:nvSpPr>
          <p:cNvPr id="21" name="Cell 21"/>
          <p:cNvSpPr/>
          <p:nvPr/>
        </p:nvSpPr>
        <p:spPr>
          <a:xfrm>
            <a:off x="685800" y="3026663"/>
            <a:ext cx="24688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SVD sparse full</a:t>
            </a:r>
          </a:p>
        </p:txBody>
      </p:sp>
      <p:sp>
        <p:nvSpPr>
          <p:cNvPr id="22" name="Cell 22"/>
          <p:cNvSpPr/>
          <p:nvPr/>
        </p:nvSpPr>
        <p:spPr>
          <a:xfrm>
            <a:off x="3154680" y="3026663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5</a:t>
            </a:r>
          </a:p>
        </p:txBody>
      </p:sp>
      <p:sp>
        <p:nvSpPr>
          <p:cNvPr id="23" name="Cell 23"/>
          <p:cNvSpPr/>
          <p:nvPr/>
        </p:nvSpPr>
        <p:spPr>
          <a:xfrm>
            <a:off x="4069080" y="3026663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15</a:t>
            </a:r>
          </a:p>
        </p:txBody>
      </p:sp>
      <p:sp>
        <p:nvSpPr>
          <p:cNvPr id="24" name="Cell 24"/>
          <p:cNvSpPr/>
          <p:nvPr/>
        </p:nvSpPr>
        <p:spPr>
          <a:xfrm>
            <a:off x="4983480" y="3026663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27</a:t>
            </a:r>
          </a:p>
        </p:txBody>
      </p:sp>
      <p:sp>
        <p:nvSpPr>
          <p:cNvPr id="25" name="Cell 25"/>
          <p:cNvSpPr/>
          <p:nvPr/>
        </p:nvSpPr>
        <p:spPr>
          <a:xfrm>
            <a:off x="5897880" y="3026663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73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9440" y="2103120"/>
            <a:ext cx="4389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0">
                <a:solidFill>
                  <a:srgbClr val="1F2937"/>
                </a:solidFill>
              </a:rPr>
              <a:t>Interpretation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• Strong redundancy exists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• SVD preserves richer text/tag detail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• t-SNE is used only for visualization, not validation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800" b="1">
                <a:solidFill>
                  <a:srgbClr val="0F172A"/>
                </a:solidFill>
              </a:rPr>
              <a:t>K-means Experiment: Parameter Sweep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594360" y="868680"/>
            <a:ext cx="10789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0">
                <a:solidFill>
                  <a:srgbClr val="1F2937"/>
                </a:solidFill>
              </a:rPr>
              <a:t>K-means assigns every anime to a segment, but assumes roughly spherical Euclidean clusters.</a:t>
            </a:r>
            <a:endParaRPr lang="en-US" sz="1800"/>
          </a:p>
        </p:txBody>
      </p:sp>
      <p:pic>
        <p:nvPicPr>
          <p:cNvPr id="4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5486400" cy="2007641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492240" y="1645920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500" b="1">
                <a:solidFill>
                  <a:srgbClr val="111827"/>
                </a:solidFill>
              </a:rPr>
              <a:t>Selected K values</a:t>
            </a:r>
            <a:endParaRPr lang="en-US" sz="1500"/>
          </a:p>
        </p:txBody>
      </p:sp>
      <p:sp>
        <p:nvSpPr>
          <p:cNvPr id="21" name="Cell 21"/>
          <p:cNvSpPr/>
          <p:nvPr/>
        </p:nvSpPr>
        <p:spPr>
          <a:xfrm>
            <a:off x="6492240" y="1993392"/>
            <a:ext cx="68580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k</a:t>
            </a:r>
          </a:p>
        </p:txBody>
      </p:sp>
      <p:sp>
        <p:nvSpPr>
          <p:cNvPr id="22" name="Cell 22"/>
          <p:cNvSpPr/>
          <p:nvPr/>
        </p:nvSpPr>
        <p:spPr>
          <a:xfrm>
            <a:off x="7178040" y="1993392"/>
            <a:ext cx="77724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sil.</a:t>
            </a:r>
          </a:p>
        </p:txBody>
      </p:sp>
      <p:sp>
        <p:nvSpPr>
          <p:cNvPr id="23" name="Cell 23"/>
          <p:cNvSpPr/>
          <p:nvPr/>
        </p:nvSpPr>
        <p:spPr>
          <a:xfrm>
            <a:off x="7955279" y="1993392"/>
            <a:ext cx="77724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DB</a:t>
            </a:r>
          </a:p>
        </p:txBody>
      </p:sp>
      <p:sp>
        <p:nvSpPr>
          <p:cNvPr id="24" name="Cell 24"/>
          <p:cNvSpPr/>
          <p:nvPr/>
        </p:nvSpPr>
        <p:spPr>
          <a:xfrm>
            <a:off x="8732519" y="1993392"/>
            <a:ext cx="114300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inertia</a:t>
            </a:r>
          </a:p>
        </p:txBody>
      </p:sp>
      <p:sp>
        <p:nvSpPr>
          <p:cNvPr id="25" name="Cell 25"/>
          <p:cNvSpPr/>
          <p:nvPr/>
        </p:nvSpPr>
        <p:spPr>
          <a:xfrm>
            <a:off x="6492240" y="2304288"/>
            <a:ext cx="685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12</a:t>
            </a:r>
          </a:p>
        </p:txBody>
      </p:sp>
      <p:sp>
        <p:nvSpPr>
          <p:cNvPr id="26" name="Cell 26"/>
          <p:cNvSpPr/>
          <p:nvPr/>
        </p:nvSpPr>
        <p:spPr>
          <a:xfrm>
            <a:off x="7178040" y="2304288"/>
            <a:ext cx="777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0.073</a:t>
            </a:r>
          </a:p>
        </p:txBody>
      </p:sp>
      <p:sp>
        <p:nvSpPr>
          <p:cNvPr id="27" name="Cell 27"/>
          <p:cNvSpPr/>
          <p:nvPr/>
        </p:nvSpPr>
        <p:spPr>
          <a:xfrm>
            <a:off x="7955279" y="2304288"/>
            <a:ext cx="777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2.840</a:t>
            </a:r>
          </a:p>
        </p:txBody>
      </p:sp>
      <p:sp>
        <p:nvSpPr>
          <p:cNvPr id="28" name="Cell 28"/>
          <p:cNvSpPr/>
          <p:nvPr/>
        </p:nvSpPr>
        <p:spPr>
          <a:xfrm>
            <a:off x="8732519" y="2304288"/>
            <a:ext cx="11430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664,545</a:t>
            </a:r>
          </a:p>
        </p:txBody>
      </p:sp>
      <p:sp>
        <p:nvSpPr>
          <p:cNvPr id="29" name="Cell 29"/>
          <p:cNvSpPr/>
          <p:nvPr/>
        </p:nvSpPr>
        <p:spPr>
          <a:xfrm>
            <a:off x="6492240" y="2615184"/>
            <a:ext cx="685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16</a:t>
            </a:r>
          </a:p>
        </p:txBody>
      </p:sp>
      <p:sp>
        <p:nvSpPr>
          <p:cNvPr id="30" name="Cell 30"/>
          <p:cNvSpPr/>
          <p:nvPr/>
        </p:nvSpPr>
        <p:spPr>
          <a:xfrm>
            <a:off x="7178040" y="2615184"/>
            <a:ext cx="777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0.083</a:t>
            </a:r>
          </a:p>
        </p:txBody>
      </p:sp>
      <p:sp>
        <p:nvSpPr>
          <p:cNvPr id="31" name="Cell 31"/>
          <p:cNvSpPr/>
          <p:nvPr/>
        </p:nvSpPr>
        <p:spPr>
          <a:xfrm>
            <a:off x="7955279" y="2615184"/>
            <a:ext cx="777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2.479</a:t>
            </a:r>
          </a:p>
        </p:txBody>
      </p:sp>
      <p:sp>
        <p:nvSpPr>
          <p:cNvPr id="32" name="Cell 32"/>
          <p:cNvSpPr/>
          <p:nvPr/>
        </p:nvSpPr>
        <p:spPr>
          <a:xfrm>
            <a:off x="8732519" y="2615184"/>
            <a:ext cx="11430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618,528</a:t>
            </a:r>
          </a:p>
        </p:txBody>
      </p:sp>
      <p:sp>
        <p:nvSpPr>
          <p:cNvPr id="33" name="Cell 33"/>
          <p:cNvSpPr/>
          <p:nvPr/>
        </p:nvSpPr>
        <p:spPr>
          <a:xfrm>
            <a:off x="6492240" y="2926079"/>
            <a:ext cx="6858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20</a:t>
            </a:r>
          </a:p>
        </p:txBody>
      </p:sp>
      <p:sp>
        <p:nvSpPr>
          <p:cNvPr id="34" name="Cell 34"/>
          <p:cNvSpPr/>
          <p:nvPr/>
        </p:nvSpPr>
        <p:spPr>
          <a:xfrm>
            <a:off x="7178040" y="2926079"/>
            <a:ext cx="777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0.104</a:t>
            </a:r>
          </a:p>
        </p:txBody>
      </p:sp>
      <p:sp>
        <p:nvSpPr>
          <p:cNvPr id="35" name="Cell 35"/>
          <p:cNvSpPr/>
          <p:nvPr/>
        </p:nvSpPr>
        <p:spPr>
          <a:xfrm>
            <a:off x="7955279" y="2926079"/>
            <a:ext cx="777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2.389</a:t>
            </a:r>
          </a:p>
        </p:txBody>
      </p:sp>
      <p:sp>
        <p:nvSpPr>
          <p:cNvPr id="36" name="Cell 36"/>
          <p:cNvSpPr/>
          <p:nvPr/>
        </p:nvSpPr>
        <p:spPr>
          <a:xfrm>
            <a:off x="8732519" y="2926079"/>
            <a:ext cx="11430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576,682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92240" y="3886200"/>
            <a:ext cx="4754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700" b="0">
                <a:solidFill>
                  <a:srgbClr val="1F2937"/>
                </a:solidFill>
              </a:rPr>
              <a:t>Result: k=20 is best among tested K-means settings, but silhouette remains low, so these are broad discovery segments rather than hard genre truth.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800" b="1">
                <a:solidFill>
                  <a:srgbClr val="0F172A"/>
                </a:solidFill>
              </a:rPr>
              <a:t>Density Methods: DBSCAN and OPTICS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594360" y="868680"/>
            <a:ext cx="108813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0">
                <a:solidFill>
                  <a:srgbClr val="1F2937"/>
                </a:solidFill>
              </a:rPr>
              <a:t>Density methods reveal compact pockets, but most anime become noise under many settings.</a:t>
            </a:r>
            <a:endParaRPr lang="en-US" sz="1800"/>
          </a:p>
        </p:txBody>
      </p:sp>
      <p:pic>
        <p:nvPicPr>
          <p:cNvPr id="4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656426" cy="2743200"/>
          </a:xfrm>
          <a:prstGeom prst="rect">
            <a:avLst/>
          </a:prstGeom>
        </p:spPr>
      </p:pic>
      <p:pic>
        <p:nvPicPr>
          <p:cNvPr id="5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172200" y="1554480"/>
            <a:ext cx="2656058" cy="2743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14400" y="4572000"/>
            <a:ext cx="5577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500" b="1">
                <a:solidFill>
                  <a:srgbClr val="111827"/>
                </a:solidFill>
              </a:rPr>
              <a:t>Validation highlights</a:t>
            </a:r>
            <a:endParaRPr lang="en-US" sz="1500"/>
          </a:p>
        </p:txBody>
      </p:sp>
      <p:sp>
        <p:nvSpPr>
          <p:cNvPr id="21" name="Cell 21"/>
          <p:cNvSpPr/>
          <p:nvPr/>
        </p:nvSpPr>
        <p:spPr>
          <a:xfrm>
            <a:off x="914400" y="4919472"/>
            <a:ext cx="292608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Setting</a:t>
            </a:r>
          </a:p>
        </p:txBody>
      </p:sp>
      <p:sp>
        <p:nvSpPr>
          <p:cNvPr id="22" name="Cell 22"/>
          <p:cNvSpPr/>
          <p:nvPr/>
        </p:nvSpPr>
        <p:spPr>
          <a:xfrm>
            <a:off x="3840480" y="4919472"/>
            <a:ext cx="91440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clusters</a:t>
            </a:r>
          </a:p>
        </p:txBody>
      </p:sp>
      <p:sp>
        <p:nvSpPr>
          <p:cNvPr id="23" name="Cell 23"/>
          <p:cNvSpPr/>
          <p:nvPr/>
        </p:nvSpPr>
        <p:spPr>
          <a:xfrm>
            <a:off x="4754880" y="4919472"/>
            <a:ext cx="82296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sil.</a:t>
            </a:r>
          </a:p>
        </p:txBody>
      </p:sp>
      <p:sp>
        <p:nvSpPr>
          <p:cNvPr id="24" name="Cell 24"/>
          <p:cNvSpPr/>
          <p:nvPr/>
        </p:nvSpPr>
        <p:spPr>
          <a:xfrm>
            <a:off x="5577840" y="4919472"/>
            <a:ext cx="914400" cy="310896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1"/>
              <a:t>noise</a:t>
            </a:r>
          </a:p>
        </p:txBody>
      </p:sp>
      <p:sp>
        <p:nvSpPr>
          <p:cNvPr id="25" name="Cell 25"/>
          <p:cNvSpPr/>
          <p:nvPr/>
        </p:nvSpPr>
        <p:spPr>
          <a:xfrm>
            <a:off x="914400" y="5230368"/>
            <a:ext cx="2926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DBSCAN eps 3.0, min 35</a:t>
            </a:r>
          </a:p>
        </p:txBody>
      </p:sp>
      <p:sp>
        <p:nvSpPr>
          <p:cNvPr id="26" name="Cell 26"/>
          <p:cNvSpPr/>
          <p:nvPr/>
        </p:nvSpPr>
        <p:spPr>
          <a:xfrm>
            <a:off x="3840480" y="5230368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2</a:t>
            </a:r>
          </a:p>
        </p:txBody>
      </p:sp>
      <p:sp>
        <p:nvSpPr>
          <p:cNvPr id="27" name="Cell 27"/>
          <p:cNvSpPr/>
          <p:nvPr/>
        </p:nvSpPr>
        <p:spPr>
          <a:xfrm>
            <a:off x="4754880" y="5230368"/>
            <a:ext cx="822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0.491</a:t>
            </a:r>
          </a:p>
        </p:txBody>
      </p:sp>
      <p:sp>
        <p:nvSpPr>
          <p:cNvPr id="28" name="Cell 28"/>
          <p:cNvSpPr/>
          <p:nvPr/>
        </p:nvSpPr>
        <p:spPr>
          <a:xfrm>
            <a:off x="5577840" y="5230368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90.8%</a:t>
            </a:r>
          </a:p>
        </p:txBody>
      </p:sp>
      <p:sp>
        <p:nvSpPr>
          <p:cNvPr id="29" name="Cell 29"/>
          <p:cNvSpPr/>
          <p:nvPr/>
        </p:nvSpPr>
        <p:spPr>
          <a:xfrm>
            <a:off x="914400" y="5541264"/>
            <a:ext cx="2926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OPTICS min 50, xi .05</a:t>
            </a:r>
          </a:p>
        </p:txBody>
      </p:sp>
      <p:sp>
        <p:nvSpPr>
          <p:cNvPr id="30" name="Cell 30"/>
          <p:cNvSpPr/>
          <p:nvPr/>
        </p:nvSpPr>
        <p:spPr>
          <a:xfrm>
            <a:off x="3840480" y="5541264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2</a:t>
            </a:r>
          </a:p>
        </p:txBody>
      </p:sp>
      <p:sp>
        <p:nvSpPr>
          <p:cNvPr id="31" name="Cell 31"/>
          <p:cNvSpPr/>
          <p:nvPr/>
        </p:nvSpPr>
        <p:spPr>
          <a:xfrm>
            <a:off x="4754880" y="5541264"/>
            <a:ext cx="822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0.568</a:t>
            </a:r>
          </a:p>
        </p:txBody>
      </p:sp>
      <p:sp>
        <p:nvSpPr>
          <p:cNvPr id="32" name="Cell 32"/>
          <p:cNvSpPr/>
          <p:nvPr/>
        </p:nvSpPr>
        <p:spPr>
          <a:xfrm>
            <a:off x="5577840" y="5541264"/>
            <a:ext cx="9144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anchor="mid"/>
          <a:lstStyle/>
          <a:p>
            <a:r>
              <a:rPr sz="1100" b="0"/>
              <a:t>96.5%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83680" y="4572000"/>
            <a:ext cx="43891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700" b="0">
                <a:solidFill>
                  <a:srgbClr val="1F2937"/>
                </a:solidFill>
              </a:rPr>
              <a:t>Higher silhouette is misleading when the method rejects most of the catalog as outliers.</a:t>
            </a: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800" b="1">
                <a:solidFill>
                  <a:srgbClr val="0F172A"/>
                </a:solidFill>
              </a:rPr>
              <a:t>Cluster Profile Analysis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594360" y="868680"/>
            <a:ext cx="108813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0">
                <a:solidFill>
                  <a:srgbClr val="1F2937"/>
                </a:solidFill>
              </a:rPr>
              <a:t>The heatmap checks whether K-means clusters have interpretable genre concentration instead of only reporting labels.</a:t>
            </a:r>
            <a:endParaRPr lang="en-US" sz="1800"/>
          </a:p>
        </p:txBody>
      </p:sp>
      <p:pic>
        <p:nvPicPr>
          <p:cNvPr id="4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6202248" cy="420624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543800" y="1737360"/>
            <a:ext cx="384048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700" b="0">
                <a:solidFill>
                  <a:srgbClr val="1F2937"/>
                </a:solidFill>
              </a:rPr>
              <a:t>Most defensible clusters</a:t>
            </a:r>
            <a:endParaRPr lang="en-US" sz="1700"/>
          </a:p>
          <a:p>
            <a:r>
              <a:rPr lang="en-US" sz="1700" b="0">
                <a:solidFill>
                  <a:srgbClr val="1F2937"/>
                </a:solidFill>
              </a:rPr>
              <a:t>• Clear Hentai / Slice of Life pockets</a:t>
            </a:r>
            <a:endParaRPr lang="en-US" sz="1700"/>
          </a:p>
          <a:p>
            <a:r>
              <a:rPr lang="en-US" sz="1700" b="0">
                <a:solidFill>
                  <a:srgbClr val="1F2937"/>
                </a:solidFill>
              </a:rPr>
              <a:t>• Comedy-heavy groups</a:t>
            </a:r>
            <a:endParaRPr lang="en-US" sz="1700"/>
          </a:p>
          <a:p>
            <a:r>
              <a:rPr lang="en-US" sz="1700" b="0">
                <a:solidFill>
                  <a:srgbClr val="1F2937"/>
                </a:solidFill>
              </a:rPr>
              <a:t>• Action/Fantasy/Sci-Fi mixtures</a:t>
            </a:r>
            <a:endParaRPr lang="en-US" sz="1700"/>
          </a:p>
          <a:p>
            <a:r>
              <a:rPr lang="en-US" sz="1700" b="0">
                <a:solidFill>
                  <a:srgbClr val="1F2937"/>
                </a:solidFill>
              </a:rPr>
              <a:t/>
            </a:r>
            <a:endParaRPr lang="en-US" sz="1700"/>
          </a:p>
          <a:p>
            <a:r>
              <a:rPr lang="en-US" sz="1700" b="0">
                <a:solidFill>
                  <a:srgbClr val="1F2937"/>
                </a:solidFill>
              </a:rPr>
              <a:t>Weakest clusters</a:t>
            </a:r>
            <a:endParaRPr lang="en-US" sz="1700"/>
          </a:p>
          <a:p>
            <a:r>
              <a:rPr lang="en-US" sz="1700" b="0">
                <a:solidFill>
                  <a:srgbClr val="1F2937"/>
                </a:solidFill>
              </a:rPr>
              <a:t>• Mixed multi-genre groups</a:t>
            </a:r>
            <a:endParaRPr lang="en-US" sz="1700"/>
          </a:p>
          <a:p>
            <a:r>
              <a:rPr lang="en-US" sz="1700" b="0">
                <a:solidFill>
                  <a:srgbClr val="1F2937"/>
                </a:solidFill>
              </a:rPr>
              <a:t>• Franchise variants and specials blur boundaries</a:t>
            </a:r>
            <a:endParaRPr 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800" b="1">
                <a:solidFill>
                  <a:srgbClr val="0F172A"/>
                </a:solidFill>
              </a:rPr>
              <a:t>Failure Analysis and Recommendation Use</a:t>
            </a:r>
            <a:endParaRPr lang="en-US" sz="2800"/>
          </a:p>
        </p:txBody>
      </p:sp>
      <p:pic>
        <p:nvPicPr>
          <p:cNvPr id="4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5120640" cy="313062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080760" y="1188720"/>
            <a:ext cx="5303520" cy="42062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0">
                <a:solidFill>
                  <a:srgbClr val="1F2937"/>
                </a:solidFill>
              </a:rPr>
              <a:t>What should not be overclaimed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• K-means clusters are not hard genre truth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• t-SNE islands are not validation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• DBSCAN/OPTICS scores are limited by high noise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Operational use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• Clusters support broad discovery/cold start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• Recommendation edges capture similarity</a:t>
            </a:r>
            <a:endParaRPr lang="en-US" sz="1800"/>
          </a:p>
          <a:p>
            <a:r>
              <a:rPr lang="en-US" sz="1800" b="0">
                <a:solidFill>
                  <a:srgbClr val="1F2937"/>
                </a:solidFill>
              </a:rPr>
              <a:t>• Relation edges prevent bad franchise order suggestions</a:t>
            </a:r>
            <a:endParaRPr lang="en-US" sz="1800"/>
          </a:p>
        </p:txBody>
      </p:sp>
      <p:sp>
        <p:nvSpPr>
          <p:cNvPr id="6" name="TextBox 6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>
                <a:solidFill>
                  <a:srgbClr val="0F172A"/>
                </a:solidFill>
              </a:rPr>
              <a:t>Conclusion: useful segmentation exists, but final recommendation should combine clusters + recommendation graph + relation graph.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ek7Theme">
  <a:themeElements>
    <a:clrScheme name="Office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9333EA"/>
      </a:accent3>
      <a:accent4>
        <a:srgbClr val="EA580C"/>
      </a:accent4>
      <a:accent5>
        <a:srgbClr val="64748B"/>
      </a:accent5>
      <a:accent6>
        <a:srgbClr val="DC2626"/>
      </a:accent6>
      <a:hlink>
        <a:srgbClr val="2563EB"/>
      </a:hlink>
      <a:folHlink>
        <a:srgbClr val="9333EA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